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%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Feb</c:v>
                  </c:pt>
                  <c:pt idx="1">
                    <c:v>Mar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  <c:pt idx="5">
                    <c:v>Aug</c:v>
                  </c:pt>
                  <c:pt idx="6">
                    <c:v>Sep</c:v>
                  </c:pt>
                  <c:pt idx="7">
                    <c:v>Oct</c:v>
                  </c:pt>
                  <c:pt idx="8">
                    <c:v>Nov</c:v>
                  </c:pt>
                  <c:pt idx="9">
                    <c:v>Dec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10</c:v>
                </c:pt>
                <c:pt idx="2">
                  <c:v>11</c:v>
                </c:pt>
                <c:pt idx="3">
                  <c:v>10</c:v>
                </c:pt>
                <c:pt idx="4">
                  <c:v>15</c:v>
                </c:pt>
                <c:pt idx="5">
                  <c:v>18</c:v>
                </c:pt>
                <c:pt idx="6">
                  <c:v>19</c:v>
                </c:pt>
                <c:pt idx="7">
                  <c:v>21</c:v>
                </c:pt>
                <c:pt idx="8">
                  <c:v>25</c:v>
                </c:pt>
                <c:pt idx="9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9396"/>
              </a:solidFill>
              <a:effectLst/>
            </c:spPr>
          </c:dPt>
          <c:dPt>
            <c:idx val="1"/>
            <c:bubble3D val="0"/>
            <c:spPr>
              <a:solidFill>
                <a:srgbClr val="EE6C4D"/>
              </a:solidFill>
              <a:effectLst/>
            </c:spPr>
          </c:dPt>
          <c:dPt>
            <c:idx val="2"/>
            <c:bubble3D val="0"/>
            <c:spPr>
              <a:solidFill>
                <a:srgbClr val="88888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Returning Visitor</c:v>
                </c:pt>
                <c:pt idx="1">
                  <c:v>New Visitor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1470</c:v>
                </c:pt>
                <c:pt idx="1">
                  <c:v>422</c:v>
                </c:pt>
                <c:pt idx="2">
                  <c:v>16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AAAAA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ProductRelated Duration</c:v>
                </c:pt>
              </c:strCache>
            </c:strRef>
          </c:tx>
          <c:spPr>
            <a:solidFill>
              <a:srgbClr val="E9C46A"/>
            </a:solidFill>
            <a:ln w="31750" cap="flat">
              <a:solidFill>
                <a:srgbClr val="E9C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C46A"/>
              </a:solidFill>
              <a:ln w="9525" cap="flat">
                <a:solidFill>
                  <a:srgbClr val="E9C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Feb</c:v>
                  </c:pt>
                  <c:pt idx="1">
                    <c:v>Mar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  <c:pt idx="5">
                    <c:v>Aug</c:v>
                  </c:pt>
                  <c:pt idx="6">
                    <c:v>Sep</c:v>
                  </c:pt>
                  <c:pt idx="7">
                    <c:v>Oct</c:v>
                  </c:pt>
                  <c:pt idx="8">
                    <c:v>Nov</c:v>
                  </c:pt>
                  <c:pt idx="9">
                    <c:v>Dec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500</c:v>
                </c:pt>
                <c:pt idx="1">
                  <c:v>1100</c:v>
                </c:pt>
                <c:pt idx="2">
                  <c:v>1800</c:v>
                </c:pt>
                <c:pt idx="3">
                  <c:v>1200</c:v>
                </c:pt>
                <c:pt idx="4">
                  <c:v>1000</c:v>
                </c:pt>
                <c:pt idx="5">
                  <c:v>1300</c:v>
                </c:pt>
                <c:pt idx="6">
                  <c:v>1300</c:v>
                </c:pt>
                <c:pt idx="7">
                  <c:v>800</c:v>
                </c:pt>
                <c:pt idx="8">
                  <c:v>1100</c:v>
                </c:pt>
                <c:pt idx="9">
                  <c:v>1200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Conversions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  <c:pt idx="6">
                    <c:v>R7</c:v>
                  </c:pt>
                  <c:pt idx="7">
                    <c:v>R8</c:v>
                  </c:pt>
                  <c:pt idx="8">
                    <c:v>R9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771</c:v>
                </c:pt>
                <c:pt idx="1">
                  <c:v>349</c:v>
                </c:pt>
                <c:pt idx="2">
                  <c:v>86</c:v>
                </c:pt>
                <c:pt idx="3">
                  <c:v>52</c:v>
                </c:pt>
                <c:pt idx="4">
                  <c:v>188</c:v>
                </c:pt>
                <c:pt idx="5">
                  <c:v>120</c:v>
                </c:pt>
                <c:pt idx="6">
                  <c:v>95</c:v>
                </c:pt>
                <c:pt idx="7">
                  <c:v>43</c:v>
                </c:pt>
                <c:pt idx="8">
                  <c:v>204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280160"/>
            <a:ext cx="8046720" cy="1463040"/>
          </a:xfrm>
          <a:prstGeom prst="rect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INTENTION ANALYSIS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Data Analytics 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342900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0A9396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0" y="342900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EE6C4D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342900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E9C46A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12,330 Sessions  |  18 Features  |  E-Commerce Behavior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51760" cy="10972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browsing behavior and identify key factors influencing online purchase conversions on an e-commerce platform.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651760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960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businesses struggle to understand why some users purchase while others leave without converting. This project uncovers those behavioral drivers.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82296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822960"/>
            <a:ext cx="2651760" cy="10972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960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4173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12,330 sessions × 18 features covering page visits, session durations, bounce/exit rates, visitor type, region, traffic source, and conversion outcome.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315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Objectives: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browsing behavior  •  Identify purchase drivers  •  Understand bounce &amp; exit rates  •  Explore seasonal trends  •  Visitor-type insights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3657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51760" cy="59436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77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" y="1508760"/>
            <a:ext cx="109728" cy="109728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444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" y="2057400"/>
            <a:ext cx="109728" cy="109728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993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" y="2606040"/>
            <a:ext cx="109728" cy="109728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542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" y="3154680"/>
            <a:ext cx="109728" cy="109728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3090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" y="3703320"/>
            <a:ext cx="109728" cy="109728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639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777240"/>
            <a:ext cx="2651760" cy="3657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777240"/>
            <a:ext cx="2651760" cy="594360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777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 (MySQL)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64992" y="1508760"/>
            <a:ext cx="109728" cy="109728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21" name="Text 19"/>
          <p:cNvSpPr/>
          <p:nvPr/>
        </p:nvSpPr>
        <p:spPr>
          <a:xfrm>
            <a:off x="3547872" y="1444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Business Queries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4992" y="2057400"/>
            <a:ext cx="109728" cy="109728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23" name="Text 21"/>
          <p:cNvSpPr/>
          <p:nvPr/>
        </p:nvSpPr>
        <p:spPr>
          <a:xfrm>
            <a:off x="3547872" y="1993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Analysis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64992" y="2606040"/>
            <a:ext cx="109728" cy="109728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25" name="Text 23"/>
          <p:cNvSpPr/>
          <p:nvPr/>
        </p:nvSpPr>
        <p:spPr>
          <a:xfrm>
            <a:off x="3547872" y="2542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Source Insights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64992" y="3154680"/>
            <a:ext cx="109728" cy="109728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27" name="Text 25"/>
          <p:cNvSpPr/>
          <p:nvPr/>
        </p:nvSpPr>
        <p:spPr>
          <a:xfrm>
            <a:off x="3547872" y="3090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Behavior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64992" y="3703320"/>
            <a:ext cx="109728" cy="109728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29" name="Text 27"/>
          <p:cNvSpPr/>
          <p:nvPr/>
        </p:nvSpPr>
        <p:spPr>
          <a:xfrm>
            <a:off x="3547872" y="3639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777240"/>
            <a:ext cx="2651760" cy="3657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777240"/>
            <a:ext cx="2651760" cy="5943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777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 BI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45352" y="150876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1444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45352" y="205740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1993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45352" y="260604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8" name="Text 36"/>
          <p:cNvSpPr/>
          <p:nvPr/>
        </p:nvSpPr>
        <p:spPr>
          <a:xfrm>
            <a:off x="6428232" y="2542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45352" y="315468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40" name="Text 38"/>
          <p:cNvSpPr/>
          <p:nvPr/>
        </p:nvSpPr>
        <p:spPr>
          <a:xfrm>
            <a:off x="6428232" y="3090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Heatmap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45352" y="370332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42" name="Text 40"/>
          <p:cNvSpPr/>
          <p:nvPr/>
        </p:nvSpPr>
        <p:spPr>
          <a:xfrm>
            <a:off x="6428232" y="3639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vs Page Value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4" name="Text 42"/>
          <p:cNvSpPr/>
          <p:nvPr/>
        </p:nvSpPr>
        <p:spPr>
          <a:xfrm>
            <a:off x="182880" y="4617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88720" y="4617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508760" y="4617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514600" y="4617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2834640" y="4617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840480" y="4617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160520" y="4617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66360" y="4617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486400" y="4617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92240" y="4617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812280" y="4617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 —  OVERALL PERFORMANCE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94360"/>
            <a:ext cx="8412480" cy="36576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77240"/>
            <a:ext cx="1600200" cy="15087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1600200" cy="9144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12,205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39112" y="777240"/>
            <a:ext cx="1600200" cy="15087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39112" y="777240"/>
            <a:ext cx="1600200" cy="91440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0" name="Text 8"/>
          <p:cNvSpPr/>
          <p:nvPr/>
        </p:nvSpPr>
        <p:spPr>
          <a:xfrm>
            <a:off x="2039112" y="1005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1,908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39112" y="1691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58184" y="777240"/>
            <a:ext cx="1600200" cy="15087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58184" y="777240"/>
            <a:ext cx="16002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3758184" y="1005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15.63%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58184" y="1691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77256" y="777240"/>
            <a:ext cx="1600200" cy="15087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77256" y="777240"/>
            <a:ext cx="1600200" cy="91440"/>
          </a:xfrm>
          <a:prstGeom prst="rect">
            <a:avLst/>
          </a:prstGeom>
          <a:solidFill>
            <a:srgbClr val="94D2BD"/>
          </a:solidFill>
          <a:ln/>
        </p:spPr>
      </p:sp>
      <p:sp>
        <p:nvSpPr>
          <p:cNvPr id="18" name="Text 16"/>
          <p:cNvSpPr/>
          <p:nvPr/>
        </p:nvSpPr>
        <p:spPr>
          <a:xfrm>
            <a:off x="5477256" y="1005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77256" y="1691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Page Value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96328" y="777240"/>
            <a:ext cx="1600200" cy="15087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96328" y="777240"/>
            <a:ext cx="1600200" cy="91440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22" name="Text 20"/>
          <p:cNvSpPr/>
          <p:nvPr/>
        </p:nvSpPr>
        <p:spPr>
          <a:xfrm>
            <a:off x="7196328" y="1005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2.04%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96328" y="1691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Bounce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% by Month</a:t>
            </a:r>
            <a:endParaRPr lang="en-US" sz="13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65760" y="2834640"/>
          <a:ext cx="5029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566928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by Visitor Type</a:t>
            </a:r>
            <a:endParaRPr lang="en-US" sz="13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5669280" y="2834640"/>
          <a:ext cx="32004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—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173736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9326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Peak Traffic Months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32588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&amp; November recorded the highest website sessions, signaling festive/sale-driven user activity spikes.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73152" cy="1737360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0" name="Text 8"/>
          <p:cNvSpPr/>
          <p:nvPr/>
        </p:nvSpPr>
        <p:spPr>
          <a:xfrm>
            <a:off x="3364992" y="9326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Visitor Type Split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64992" y="132588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sessions were Returning Visitors, yet New Visitors showed higher per-session Page Values and conversion rates.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22960"/>
            <a:ext cx="73152" cy="17373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6291072" y="9326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Platform Dominance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1072" y="132588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Type 2 &amp; Browser 2 dominated sessions. These platforms must be prioritized for performance optimization.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88920"/>
            <a:ext cx="73152" cy="173736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28986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Regional Traffic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32918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1 generated the highest traffic volume. High-traffic regions offer targeting opportunities for regional campaigns.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88920"/>
            <a:ext cx="73152" cy="1737360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22" name="Text 20"/>
          <p:cNvSpPr/>
          <p:nvPr/>
        </p:nvSpPr>
        <p:spPr>
          <a:xfrm>
            <a:off x="3364992" y="28986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Bounce &amp; Exit Rates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64992" y="32918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invalid bounce/exit rate values were found. Converters had significantly lower bounce and exit rates than non-converters.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78892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788920"/>
            <a:ext cx="73152" cy="17373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28986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Feature Engineering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32918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TotalPages and TotalDuration were derived by summing Administrative, Informational, and Product-Related metrics per session.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18 BUSINESS QUESTIONS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206240"/>
        </p:xfrm>
        <a:graphic>
          <a:graphicData uri="http://schemas.openxmlformats.org/drawingml/2006/table">
            <a:tbl>
              <a:tblPr/>
              <a:tblGrid>
                <a:gridCol w="548640"/>
                <a:gridCol w="3931920"/>
                <a:gridCol w="42976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Q#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Business Question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Insight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E6C4D"/>
                          </a:solidFill>
                        </a:rPr>
                        <a:t>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Which months have highest conversion?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November (25%) &amp; October (21%) top conversion months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E6C4D"/>
                          </a:solidFill>
                        </a:rPr>
                        <a:t>Q2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Which visitor type has highest page value?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New Visitors avg page value exceeds Returning Visitors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E6C4D"/>
                          </a:solidFill>
                        </a:rPr>
                        <a:t>Q3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Which traffic sources convert best?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Traffic Types 16, 7 &amp; 8 are top performers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E6C4D"/>
                          </a:solidFill>
                        </a:rPr>
                        <a:t>Q5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How do bounce rates affect conversions?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Converters had 5x lower bounce rates than non-converters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E6C4D"/>
                          </a:solidFill>
                        </a:rPr>
                        <a:t>Q9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How does page value relate to conversion?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Converters showed dramatically higher avg page values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E6C4D"/>
                          </a:solidFill>
                        </a:rPr>
                        <a:t>Q10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Do weekend visitors convert better?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Weekend sessions show slightly higher conversion rates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E6C4D"/>
                          </a:solidFill>
                        </a:rPr>
                        <a:t>Q11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Does SpecialDay influence purchases?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SpecialDay=0 (regular days) had the highest conversion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E6C4D"/>
                          </a:solidFill>
                        </a:rPr>
                        <a:t>Q15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Best month-visitor type combo?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New Visitors in November had the highest combined conversion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E6C4D"/>
                          </a:solidFill>
                        </a:rPr>
                        <a:t>Q17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Do users browsing more pages convert?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Converters visited significantly more pages per session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VISUAL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8404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KPI Cards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1417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Sessions, Conversions, Conversion Rate, Avg Page Value, Bounce 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947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Bar Chart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9476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% trended across all 10 months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4780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🍩 Doughnut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247802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 split by Visitor Type (Returning vs New)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3008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Bar Chart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300837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 by Region (9 Regions)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3538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Scatter Plot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35387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Rates vs Page Values by Revenue outcome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4069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Line Chart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4069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Product Related Duration per Month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937760"/>
            <a:ext cx="3840480" cy="0"/>
          </a:xfrm>
          <a:prstGeom prst="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4297680" y="804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Product Duration by Month (seconds)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297680" y="1188720"/>
          <a:ext cx="45720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29768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by Region</a:t>
            </a:r>
            <a:endParaRPr lang="en-US" sz="130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4297680" y="3703320"/>
          <a:ext cx="45720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94360"/>
            <a:ext cx="841248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77240"/>
            <a:ext cx="4206240" cy="11887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29768" y="914400"/>
            <a:ext cx="91440" cy="9144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503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&amp; Oct are peak conversion months (25%, 21%)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371600"/>
            <a:ext cx="91440" cy="914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984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marketing spend and promotional campaigns in Q4 to capture purchase intent.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206240" cy="11887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864608" y="914400"/>
            <a:ext cx="91440" cy="9144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8503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Visitors outperform on page value per session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64608" y="1371600"/>
            <a:ext cx="91440" cy="91440"/>
          </a:xfrm>
          <a:prstGeom prst="ellipse">
            <a:avLst/>
          </a:prstGeom>
          <a:solidFill>
            <a:srgbClr val="94D2B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2984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first-visit personalization, targeted landing pages, and onboarding flows.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48840"/>
            <a:ext cx="4206240" cy="11887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" y="2286000"/>
            <a:ext cx="91440" cy="914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221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Converters had 5× lower bounce rates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" y="2743200"/>
            <a:ext cx="91440" cy="9144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6700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ad targeting and landing page relevance to reduce early session exits.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206240" cy="11887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864608" y="2286000"/>
            <a:ext cx="91440" cy="91440"/>
          </a:xfrm>
          <a:prstGeom prst="ellipse">
            <a:avLst/>
          </a:prstGeom>
          <a:solidFill>
            <a:srgbClr val="94D2B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221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page views &amp; session duration = more conversions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64608" y="2743200"/>
            <a:ext cx="91440" cy="914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6700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internal navigation, product recommendations, and content depth to extend sessions.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520440"/>
            <a:ext cx="4206240" cy="11887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" y="3657600"/>
            <a:ext cx="91440" cy="91440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5935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Types 16, 7 &amp; 8 drive best conversions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" y="4114800"/>
            <a:ext cx="91440" cy="9144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0416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budget toward top-performing acquisition channels and audit low-performing ones.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206240" cy="11887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64608" y="3657600"/>
            <a:ext cx="91440" cy="9144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5935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1 leads conversions; Region 8 underperforms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64608" y="4114800"/>
            <a:ext cx="91440" cy="91440"/>
          </a:xfrm>
          <a:prstGeom prst="ellipse">
            <a:avLst/>
          </a:prstGeom>
          <a:solidFill>
            <a:srgbClr val="94D2BD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40416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region-specific campaigns and analyze barriers in low-converting markets.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77724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36576" cy="36576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0972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combined Python (EDA), SQL (18 business queries), and Power BI (interactive dashboard) to deliver a complete analytical view of e-commerce user behavior.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576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91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and October emerge as the highest-converting months — aligning with global festive shopping seasons.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6576" cy="36576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286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Visitors, despite lower volume, show stronger per-session purchasing intent, making them a high-value acquisition target.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36576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8803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signals like Page Value, session duration, and page depth are strong predictors of purchase conversion.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6576" cy="36576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4747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bounce and exit rates consistently characterize converting sessions — improving UX and landing page quality is a key lever.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36576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069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segmentation by traffic source, region, and visitor type enables precise, ROI-focused marketing strategies.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7772400" cy="36576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28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SQL  •  Power BI  —  Full Stack Data Analytics Capstone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Shoppers Purchasing Intention Analysis</dc:title>
  <dc:subject>PptxGenJS Presentation</dc:subject>
  <dc:creator>PptxGenJS</dc:creator>
  <cp:lastModifiedBy>PptxGenJS</cp:lastModifiedBy>
  <cp:revision>1</cp:revision>
  <dcterms:created xsi:type="dcterms:W3CDTF">2026-05-22T09:58:56Z</dcterms:created>
  <dcterms:modified xsi:type="dcterms:W3CDTF">2026-05-22T09:58:56Z</dcterms:modified>
</cp:coreProperties>
</file>